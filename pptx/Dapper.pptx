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95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C:\Users\Yurii\AppData\Local\Temp\claude\C--Users-Yurii-source-repos---Examples-ASP-NET-AspNet-ADO-Net-Examples\44c2ceaa-020f-4de7-b610-c3e45b5de6dc\scratchpad\dapper-pptx\assets\icons\database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9646920" y="685800"/>
            <a:ext cx="1554480" cy="1554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17320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1F2A5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4173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МІКРО-ORM ДЛЯ .NET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і простий доступ до даних поверх ADO.NET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709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млн+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193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завантажень NuGet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4709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5193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коду замість ручного мапінгу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4709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51937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над SQL-запитом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8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матеріалами learndapper.com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ПРЕЗЕНТАЦІЇ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Зміст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3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0" y="2057400"/>
            <a:ext cx="566928" cy="56692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9" name="Image 0" descr="C:\Users\Yurii\AppData\Local\Temp\claude\C--Users-Yurii-source-repos---Examples-ASP-NET-AspNet-ADO-Net-Examples\44c2ceaa-020f-4de7-b610-c3e45b5de6dc\scratchpad\dapper-pptx\assets\icons\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263" y="219346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00200" y="18013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16712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Dapper, чому він популярний і чим відрізняється від ADO.NET та EF Core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3F5F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19672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10652760" y="2057400"/>
            <a:ext cx="566928" cy="56692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5" name="Image 1" descr="C:\Users\Yurii\AppData\Local\Temp\claude\C--Users-Yurii-source-repos---Examples-ASP-NET-AspNet-ADO-Net-Examples\44c2ceaa-020f-4de7-b610-c3e45b5de6dc\scratchpad\dapper-pptx\assets\icons\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823" y="219346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23760" y="18013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223760" y="216712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методів Query — від скаляра до кількох результатів за один похід у БД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282696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3F5F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96112" y="346557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5029200" y="3739896"/>
            <a:ext cx="566928" cy="56692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1" name="Image 2" descr="C:\Users\Yurii\AppData\Local\Temp\claude\C--Users-Yurii-source-repos---Examples-ASP-NET-AspNet-ADO-Net-Examples\44c2ceaa-020f-4de7-b610-c3e45b5de6dc\scratchpad\dapper-pptx\assets\icons\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5263" y="3875959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00200" y="34838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600200" y="384962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INSERT/UPDATE/DELETE та виклик збережених процедур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263640" y="3282696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3F5FC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519672" y="346557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6" name="Shape 21"/>
          <p:cNvSpPr/>
          <p:nvPr/>
        </p:nvSpPr>
        <p:spPr>
          <a:xfrm>
            <a:off x="10652760" y="3739896"/>
            <a:ext cx="566928" cy="56692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7" name="Image 3" descr="C:\Users\Yurii\AppData\Local\Temp\claude\C--Users-Yurii-source-repos---Examples-ASP-NET-AspNet-ADO-Net-Examples\44c2ceaa-020f-4de7-b610-c3e45b5de6dc\scratchpad\dapper-pptx\assets\icons\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823" y="3875959"/>
            <a:ext cx="294803" cy="29480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23760" y="348386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Розширені можливості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223760" y="384962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Зв’язки між таблицями, транзакції, масові операції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0080" y="4965192"/>
            <a:ext cx="10881360" cy="1481328"/>
          </a:xfrm>
          <a:prstGeom prst="roundRect">
            <a:avLst>
              <a:gd name="adj" fmla="val 7407"/>
            </a:avLst>
          </a:prstGeom>
          <a:solidFill>
            <a:srgbClr val="F3F5FC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96112" y="514807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32" name="Shape 26"/>
          <p:cNvSpPr/>
          <p:nvPr/>
        </p:nvSpPr>
        <p:spPr>
          <a:xfrm>
            <a:off x="10652760" y="5422392"/>
            <a:ext cx="566928" cy="56692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33" name="Image 4" descr="C:\Users\Yurii\AppData\Local\Temp\claude\C--Users-Yurii-source-repos---Examples-ASP-NET-AspNet-ADO-Net-Examples\44c2ceaa-020f-4de7-b610-c3e45b5de6dc\scratchpad\dapper-pptx\assets\icons\fl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823" y="5558455"/>
            <a:ext cx="294803" cy="29480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600200" y="51663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1600200" y="5532120"/>
            <a:ext cx="9052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обирати Dapper, а коли — Entity Framework Core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ОСНОВИ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Dapper?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0352" cy="530352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64" y="1818924"/>
            <a:ext cx="275783" cy="27578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9888" y="1673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Micro-ORM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1389888" y="200253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генерує SQL і не відстежує зміни — відповідає лише за Object Mapping: перетворення рядків результату на об’єкти C#.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044952"/>
            <a:ext cx="530352" cy="530352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1" name="Image 1" descr="C:\Users\Yurii\AppData\Local\Temp\claude\C--Users-Yurii-source-repos---Examples-ASP-NET-AspNet-ADO-Net-Examples\44c2ceaa-020f-4de7-b610-c3e45b5de6dc\scratchpad\dapper-pptx\assets\icons\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3172236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89888" y="302666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Поверх ADO.NET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1389888" y="335584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SqlConnection і той самий SQL — Dapper лише прибирає ручний SqlCommand/SqlDataReader.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98264"/>
            <a:ext cx="530352" cy="530352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5" name="Image 2" descr="C:\Users\Yurii\AppData\Local\Temp\claude\C--Users-Yurii-source-repos---Examples-ASP-NET-AspNet-ADO-Net-Examples\44c2ceaa-020f-4de7-b610-c3e45b5de6dc\scratchpad\dapper-pptx\assets\icons\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" y="4525548"/>
            <a:ext cx="275783" cy="27578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89888" y="437997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Безпечний за замовчуванням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1389888" y="47091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Параметризовані запити захищають від SQL-ін’єкцій так само надійно, як ручні SqlParameter.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818120" y="1691640"/>
            <a:ext cx="3703320" cy="4160520"/>
          </a:xfrm>
          <a:prstGeom prst="roundRect">
            <a:avLst>
              <a:gd name="adj" fmla="val 3951"/>
            </a:avLst>
          </a:prstGeom>
          <a:solidFill>
            <a:srgbClr val="141B41"/>
          </a:solidFill>
          <a:ln/>
          <a:effectLst>
            <a:outerShdw blurRad="101600" dist="25400" dir="5400000" algn="bl" rotWithShape="0">
              <a:srgbClr val="0B0F27">
                <a:alpha val="12000"/>
              </a:srgbClr>
            </a:outerShdw>
          </a:effectLst>
        </p:spPr>
      </p:sp>
      <p:pic>
        <p:nvPicPr>
          <p:cNvPr id="19" name="Image 3" descr="C:\Users\Yurii\AppData\Local\Temp\claude\C--Users-Yurii-source-repos---Examples-ASP-NET-AspNet-ADO-Net-Examples\44c2ceaa-020f-4de7-b610-c3e45b5de6dc\scratchpad\dapper-pptx\assets\icons\download.png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9304020" y="2057400"/>
            <a:ext cx="731520" cy="7315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818120" y="288036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млн+</a:t>
            </a:r>
            <a:endParaRPr lang="en-US" sz="4200" dirty="0"/>
          </a:p>
        </p:txBody>
      </p:sp>
      <p:sp>
        <p:nvSpPr>
          <p:cNvPr id="21" name="Text 15"/>
          <p:cNvSpPr txBox="1"/>
          <p:nvPr/>
        </p:nvSpPr>
        <p:spPr>
          <a:xfrm>
            <a:off x="8092440" y="36118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завантажень пакета</a:t>
            </a:r>
            <a:endParaRPr lang="en-US" sz="13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NuGet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8275320" y="4434840"/>
            <a:ext cx="2788920" cy="0"/>
          </a:xfrm>
          <a:prstGeom prst="line">
            <a:avLst/>
          </a:prstGeom>
          <a:noFill/>
          <a:ln w="12700">
            <a:solidFill>
              <a:srgbClr val="32407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138160" y="461772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«Dapper концентрується на O і M в ORM — на об’єктному мапінгу, і нічому більше.»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ОСНОВИ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Dapper?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121408" cy="4160520"/>
          </a:xfrm>
          <a:prstGeom prst="roundRect">
            <a:avLst>
              <a:gd name="adj" fmla="val 6034"/>
            </a:avLst>
          </a:prstGeom>
          <a:solidFill>
            <a:srgbClr val="F3F5FC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057400"/>
            <a:ext cx="658368" cy="65836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8" name="Image 0" descr="C:\Users\Yurii\AppData\Local\Temp\claude\C--Users-Yurii-source-repos---Examples-ASP-NET-AspNet-ADO-Net-Examples\44c2ceaa-020f-4de7-b610-c3e45b5de6dc\scratchpad\dapper-pptx\assets\icons\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608" y="221540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9260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Мінімальні накладні витрати — продуктивність, близька до «чистого» ADO.NET.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2935224" y="1691640"/>
            <a:ext cx="2121408" cy="4160520"/>
          </a:xfrm>
          <a:prstGeom prst="roundRect">
            <a:avLst>
              <a:gd name="adj" fmla="val 6034"/>
            </a:avLst>
          </a:prstGeom>
          <a:solidFill>
            <a:srgbClr val="F3F5FC"/>
          </a:solidFill>
          <a:ln/>
        </p:spPr>
      </p:sp>
      <p:sp>
        <p:nvSpPr>
          <p:cNvPr id="12" name="Shape 9"/>
          <p:cNvSpPr/>
          <p:nvPr/>
        </p:nvSpPr>
        <p:spPr>
          <a:xfrm>
            <a:off x="3666744" y="2057400"/>
            <a:ext cx="658368" cy="65836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3" name="Image 1" descr="C:\Users\Yurii\AppData\Local\Temp\claude\C--Users-Yurii-source-repos---Examples-ASP-NET-AspNet-ADO-Net-Examples\44c2ceaa-020f-4de7-b610-c3e45b5de6dc\scratchpad\dapper-pptx\assets\icons\feat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752" y="221540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72384" y="29260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Простота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3118104" y="356616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рядок коду замість ручного зчитування й мапінгу кожного стовпця.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5230368" y="1691640"/>
            <a:ext cx="2121408" cy="4160520"/>
          </a:xfrm>
          <a:prstGeom prst="roundRect">
            <a:avLst>
              <a:gd name="adj" fmla="val 6034"/>
            </a:avLst>
          </a:prstGeom>
          <a:solidFill>
            <a:srgbClr val="F3F5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961888" y="2057400"/>
            <a:ext cx="658368" cy="65836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8" name="Image 2" descr="C:\Users\Yurii\AppData\Local\Temp\claude\C--Users-Yurii-source-repos---Examples-ASP-NET-AspNet-ADO-Net-Examples\44c2ceaa-020f-4de7-b610-c3e45b5de6dc\scratchpad\dapper-pptx\assets\icons\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9896" y="2215408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67528" y="29260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із коробки</a:t>
            </a:r>
            <a:endParaRPr lang="en-US" sz="1550" dirty="0"/>
          </a:p>
        </p:txBody>
      </p:sp>
      <p:sp>
        <p:nvSpPr>
          <p:cNvPr id="20" name="Text 15"/>
          <p:cNvSpPr txBox="1"/>
          <p:nvPr/>
        </p:nvSpPr>
        <p:spPr>
          <a:xfrm>
            <a:off x="5413248" y="356616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Повноцінні синхронні та асинхронні версії всіх методів.</a:t>
            </a:r>
            <a:endParaRPr lang="en-US" sz="1180" dirty="0"/>
          </a:p>
        </p:txBody>
      </p:sp>
      <p:sp>
        <p:nvSpPr>
          <p:cNvPr id="21" name="Shape 16"/>
          <p:cNvSpPr/>
          <p:nvPr/>
        </p:nvSpPr>
        <p:spPr>
          <a:xfrm>
            <a:off x="7525512" y="1691640"/>
            <a:ext cx="2121408" cy="4160520"/>
          </a:xfrm>
          <a:prstGeom prst="roundRect">
            <a:avLst>
              <a:gd name="adj" fmla="val 6034"/>
            </a:avLst>
          </a:prstGeom>
          <a:solidFill>
            <a:srgbClr val="F3F5FC"/>
          </a:solidFill>
          <a:ln/>
        </p:spPr>
      </p:sp>
      <p:sp>
        <p:nvSpPr>
          <p:cNvPr id="22" name="Shape 17"/>
          <p:cNvSpPr/>
          <p:nvPr/>
        </p:nvSpPr>
        <p:spPr>
          <a:xfrm>
            <a:off x="8257032" y="2057400"/>
            <a:ext cx="658368" cy="65836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3" name="Image 3" descr="C:\Users\Yurii\AppData\Local\Temp\claude\C--Users-Yurii-source-repos---Examples-ASP-NET-AspNet-ADO-Net-Examples\44c2ceaa-020f-4de7-b610-c3e45b5de6dc\scratchpad\dapper-pptx\assets\icons\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5040" y="2215408"/>
            <a:ext cx="342351" cy="34235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62672" y="29260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</a:t>
            </a:r>
            <a:endParaRPr lang="en-US" sz="1550" dirty="0"/>
          </a:p>
        </p:txBody>
      </p:sp>
      <p:sp>
        <p:nvSpPr>
          <p:cNvPr id="25" name="Text 19"/>
          <p:cNvSpPr txBox="1"/>
          <p:nvPr/>
        </p:nvSpPr>
        <p:spPr>
          <a:xfrm>
            <a:off x="7708392" y="356616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Параметризовані запити захищають від SQL-ін’єкцій.</a:t>
            </a:r>
            <a:endParaRPr lang="en-US" sz="1180" dirty="0"/>
          </a:p>
        </p:txBody>
      </p:sp>
      <p:sp>
        <p:nvSpPr>
          <p:cNvPr id="26" name="Shape 20"/>
          <p:cNvSpPr/>
          <p:nvPr/>
        </p:nvSpPr>
        <p:spPr>
          <a:xfrm>
            <a:off x="9820656" y="1691640"/>
            <a:ext cx="2121408" cy="4160520"/>
          </a:xfrm>
          <a:prstGeom prst="roundRect">
            <a:avLst>
              <a:gd name="adj" fmla="val 6034"/>
            </a:avLst>
          </a:prstGeom>
          <a:solidFill>
            <a:srgbClr val="F3F5FC"/>
          </a:solidFill>
          <a:ln/>
        </p:spPr>
      </p:sp>
      <p:sp>
        <p:nvSpPr>
          <p:cNvPr id="27" name="Shape 21"/>
          <p:cNvSpPr/>
          <p:nvPr/>
        </p:nvSpPr>
        <p:spPr>
          <a:xfrm>
            <a:off x="10552176" y="2057400"/>
            <a:ext cx="658368" cy="65836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8" name="Image 4" descr="C:\Users\Yurii\AppData\Local\Temp\claude\C--Users-Yurii-source-repos---Examples-ASP-NET-AspNet-ADO-Net-Examples\44c2ceaa-020f-4de7-b610-c3e45b5de6dc\scratchpad\dapper-pptx\assets\icons\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184" y="2215408"/>
            <a:ext cx="342351" cy="3423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957816" y="29260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над SQL</a:t>
            </a:r>
            <a:endParaRPr lang="en-US" sz="1550" dirty="0"/>
          </a:p>
        </p:txBody>
      </p:sp>
      <p:sp>
        <p:nvSpPr>
          <p:cNvPr id="30" name="Text 23"/>
          <p:cNvSpPr txBox="1"/>
          <p:nvPr/>
        </p:nvSpPr>
        <p:spPr>
          <a:xfrm>
            <a:off x="10003536" y="3566160"/>
            <a:ext cx="1755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1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Виконується саме той запит, який ви написали — без прихованої генерації.</a:t>
            </a:r>
            <a:endParaRPr lang="en-US" sz="11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ОСНОВИ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Встановлення та перший запит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19037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Встановлення пакета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5146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25146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25146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834640" y="2459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.NET CLI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2788920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4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</a:t>
            </a:r>
            <a:r>
              <a:rPr lang="en-US" sz="14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Dapper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611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 через Package Manager Console: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93192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" y="41148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5840" y="41148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1188720" y="41148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834640" y="4059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NuGet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96112" y="4389120"/>
            <a:ext cx="46085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Dapper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3" name="Image 1" descr="C:\Users\Yurii\AppData\Local\Temp\claude\C--Users-Yurii-source-repos---Examples-ASP-NET-AspNet-ADO-Net-Examples\44c2ceaa-020f-4de7-b610-c3e45b5de6dc\scratchpad\dapper-pptx\assets\icons\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341" y="1903781"/>
            <a:ext cx="261518" cy="26151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949440" y="1810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Перший запит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263640" y="2331720"/>
            <a:ext cx="5285232" cy="2194560"/>
          </a:xfrm>
          <a:prstGeom prst="roundRect">
            <a:avLst>
              <a:gd name="adj" fmla="val 4167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46520" y="25146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7" name="Shape 23"/>
          <p:cNvSpPr/>
          <p:nvPr/>
        </p:nvSpPr>
        <p:spPr>
          <a:xfrm>
            <a:off x="6629400" y="25146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8" name="Shape 24"/>
          <p:cNvSpPr/>
          <p:nvPr/>
        </p:nvSpPr>
        <p:spPr>
          <a:xfrm>
            <a:off x="6812280" y="25146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622792" y="2459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6519672" y="2788920"/>
            <a:ext cx="477316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SqlConnection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connectionString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&gt;("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6263640" y="4709160"/>
            <a:ext cx="5285232" cy="1143000"/>
          </a:xfrm>
          <a:prstGeom prst="roundRect">
            <a:avLst>
              <a:gd name="adj" fmla="val 9600"/>
            </a:avLst>
          </a:prstGeom>
          <a:solidFill>
            <a:srgbClr val="F3F5FC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492240" y="48646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рядок — і результат запиту вже готовий список об’єктів Product, без жодного ручного мапінгу стовпців.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ОСНОВИ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«Чистий» ADO.NET проти Dapper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27</a:t>
            </a:r>
            <a:endParaRPr lang="en-US" sz="950" dirty="0"/>
          </a:p>
        </p:txBody>
      </p:sp>
      <p:pic>
        <p:nvPicPr>
          <p:cNvPr id="6" name="Image 0" descr="C:\Users\Yurii\AppData\Local\Temp\claude\C--Users-Yurii-source-repos---Examples-ASP-NET-AspNet-ADO-Net-Examples\44c2ceaa-020f-4de7-b610-c3e45b5de6dc\scratchpad\dapper-pptx\assets\icons\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ADO.NET — вручну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18288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18288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188720" y="18288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7180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StudentRepository.cs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103120"/>
            <a:ext cx="474573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&gt;();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SqlCommand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reader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ExecuteReader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products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reader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GetInt32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(0),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reader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GetString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(1),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reader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GetDecimal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(2)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80" dirty="0"/>
          </a:p>
        </p:txBody>
      </p:sp>
      <p:pic>
        <p:nvPicPr>
          <p:cNvPr id="14" name="Image 1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430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611112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263640" y="164592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18288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4"/>
          <p:cNvSpPr/>
          <p:nvPr/>
        </p:nvSpPr>
        <p:spPr>
          <a:xfrm>
            <a:off x="6629400" y="18288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5"/>
          <p:cNvSpPr/>
          <p:nvPr/>
        </p:nvSpPr>
        <p:spPr>
          <a:xfrm>
            <a:off x="6812280" y="18288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59536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StudentRepository.cs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519672" y="2103120"/>
            <a:ext cx="4745736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Dapper сам створює SqlCommand,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відкриває SqlDataReader і мапує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рядок у Product за назвами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стовпців результату.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40080" y="5779008"/>
            <a:ext cx="10881360" cy="18288"/>
          </a:xfrm>
          <a:prstGeom prst="roundRect">
            <a:avLst>
              <a:gd name="adj" fmla="val 500000"/>
            </a:avLst>
          </a:prstGeom>
          <a:solidFill>
            <a:srgbClr val="FFFFFF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результат — 13 рядків ручного мапінгу перетворюються на 3.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ОСНОВИ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проти Entity Framework Core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429000"/>
          </a:xfrm>
          <a:prstGeom prst="roundRect">
            <a:avLst>
              <a:gd name="adj" fmla="val 3733"/>
            </a:avLst>
          </a:prstGeom>
          <a:solidFill>
            <a:srgbClr val="F3F5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8" name="Image 0" descr="C:\Users\Yurii\AppData\Local\Temp\claude\C--Users-Yurii-source-repos---Examples-ASP-NET-AspNet-ADO-Net-Examples\44c2ceaa-020f-4de7-b610-c3e45b5de6dc\scratchpad\dapper-pptx\assets\icons\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409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651760"/>
            <a:ext cx="4617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пишете самі — повний контроль над запитом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Просте API, швидко вивчити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Ручне відстеження змін сутностей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вбудованих міграцій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накладних витрат — продуктивніший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257800" cy="3429000"/>
          </a:xfrm>
          <a:prstGeom prst="roundRect">
            <a:avLst>
              <a:gd name="adj" fmla="val 3733"/>
            </a:avLst>
          </a:prstGeom>
          <a:solidFill>
            <a:srgbClr val="F3F5F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1F2A5E"/>
          </a:solidFill>
          <a:ln/>
        </p:spPr>
      </p:sp>
      <p:pic>
        <p:nvPicPr>
          <p:cNvPr id="13" name="Image 1" descr="C:\Users\Yurii\AppData\Local\Temp\claude\C--Users-Yurii-source-repos---Examples-ASP-NET-AspNet-ADO-Net-Examples\44c2ceaa-020f-4de7-b610-c3e45b5de6dc\scratchpad\dapper-pptx\assets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20409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51760"/>
            <a:ext cx="4617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Запити генеруються з LINQ автоматично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можливостей «з коробки» (лінива загрузка, конкурентність)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відстеження змін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Вбудовані міграції схеми БД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Легше перейти на іншу СУБД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4737"/>
            </a:avLst>
          </a:prstGeom>
          <a:solidFill>
            <a:srgbClr val="141B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05840" y="53492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«Обирайте, виходячи з 95% коду, який ви писатимете, а не з 5% винятків».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ЗАПИТИ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методів Query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737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базові методи читання даних — синхронні й асинхронні, типізовані й динамічні.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31720"/>
          <a:ext cx="7178040" cy="2651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повертає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Послідовність dynamic-об’єктів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Query&lt;T&gt;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Послідовність об’єктів типу 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QueryAsync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 саме, асинхронно (Task)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QueryAsync&lt;T&gt;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Типізовано й асинхронно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229600" y="2331720"/>
            <a:ext cx="3337560" cy="3383280"/>
          </a:xfrm>
          <a:prstGeom prst="roundRect">
            <a:avLst>
              <a:gd name="adj" fmla="val 3836"/>
            </a:avLst>
          </a:prstGeom>
          <a:solidFill>
            <a:srgbClr val="141B41"/>
          </a:solidFill>
          <a:ln/>
        </p:spPr>
      </p:sp>
      <p:sp>
        <p:nvSpPr>
          <p:cNvPr id="11" name="Shape 7"/>
          <p:cNvSpPr/>
          <p:nvPr/>
        </p:nvSpPr>
        <p:spPr>
          <a:xfrm>
            <a:off x="8549640" y="265176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2" name="Image 1" descr="C:\Users\Yurii\AppData\Local\Temp\claude\C--Users-Yurii-source-repos---Examples-ASP-NET-AspNet-ADO-Net-Examples\44c2ceaa-020f-4de7-b610-c3e45b5de6dc\scratchpad\dapper-pptx\assets\icons\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27614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Порада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8549640" y="320040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Використовуйте типізовані Query&lt;T&gt; — вони убезпечують від помилок під час виконання, характерних для роботи з dynamic.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ЗАПИТИ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рядок і скалярні значення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27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178040" cy="25146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рядків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&gt;1 рядка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QuerySingle&lt;T&gt;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Виняток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Виняток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QuerySingleOrDefault&lt;T&gt;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Виняток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QueryFirst&lt;T&gt;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Виняток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Перший рядок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49A6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QueryFirstOrDefault&lt;T&gt;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Перший рядок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434840"/>
            <a:ext cx="7178040" cy="1417320"/>
          </a:xfrm>
          <a:prstGeom prst="roundRect">
            <a:avLst>
              <a:gd name="adj" fmla="val 6452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46177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1005840" y="46177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7"/>
          <p:cNvSpPr/>
          <p:nvPr/>
        </p:nvSpPr>
        <p:spPr>
          <a:xfrm>
            <a:off x="1188720" y="46177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5628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Один рядок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4892040"/>
            <a:ext cx="6665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QuerySingle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Product WHERE ProductID = @id"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1691640"/>
            <a:ext cx="3337560" cy="4160520"/>
          </a:xfrm>
          <a:prstGeom prst="roundRect">
            <a:avLst>
              <a:gd name="adj" fmla="val 3836"/>
            </a:avLst>
          </a:prstGeom>
          <a:solidFill>
            <a:srgbClr val="F3F5FC"/>
          </a:solidFill>
          <a:ln/>
        </p:spPr>
      </p:sp>
      <p:sp>
        <p:nvSpPr>
          <p:cNvPr id="14" name="Shape 11"/>
          <p:cNvSpPr/>
          <p:nvPr/>
        </p:nvSpPr>
        <p:spPr>
          <a:xfrm>
            <a:off x="8549640" y="201168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5" name="Image 0" descr="C:\Users\Yurii\AppData\Local\Temp\claude\C--Users-Yurii-source-repos---Examples-ASP-NET-AspNet-ADO-Net-Examples\44c2ceaa-020f-4de7-b610-c3e45b5de6dc\scratchpad\dapper-pptx\assets\icons\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12140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54964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Потрібне лише одне значення?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54964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 COUNT(*) — використовуйте ExecuteScalar&lt;T&gt;: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549640" y="3794760"/>
            <a:ext cx="2880360" cy="777240"/>
          </a:xfrm>
          <a:prstGeom prst="rect">
            <a:avLst/>
          </a:prstGeom>
          <a:solidFill>
            <a:srgbClr val="141B41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100" b="1" dirty="0">
                <a:solidFill>
                  <a:srgbClr val="00C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.ExecuteScalar</a:t>
            </a:r>
            <a:r>
              <a:rPr lang="en-US" sz="11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&lt;int&gt;(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sql);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ЗАПИТИ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 рядків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737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Query&lt;T&gt; і QueryAsync&lt;T&gt; повертають одразу всю послідовність об’єктів.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7178040" cy="3246120"/>
          </a:xfrm>
          <a:prstGeom prst="roundRect">
            <a:avLst>
              <a:gd name="adj" fmla="val 2817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5146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25146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25146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2459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StudentsService.cs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2788920"/>
            <a:ext cx="666597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Product WHERE CategoryID = @categoryId"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QueryAsync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18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18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categoryId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8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8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8229600" y="2331720"/>
            <a:ext cx="3337560" cy="3246120"/>
          </a:xfrm>
          <a:prstGeom prst="roundRect">
            <a:avLst>
              <a:gd name="adj" fmla="val 3944"/>
            </a:avLst>
          </a:prstGeom>
          <a:solidFill>
            <a:srgbClr val="141B41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9640" y="265176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7" name="Image 1" descr="C:\Users\Yurii\AppData\Local\Temp\claude\C--Users-Yurii-source-repos---Examples-ASP-NET-AspNet-ADO-Net-Examples\44c2ceaa-020f-4de7-b610-c3e45b5de6dc\scratchpad\dapper-pptx\assets\icons\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276148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8549640" y="324612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сам відкриває SqlDataReader, зчитує всі рядки та зіставляє їх із властивостями Product за назвами стовпців — без жодного GetOrdinal.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ЗАПИТИ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результатів за один запит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737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QueryMultiple виконує кілька SELECT в одному зверненні до бази й повертає GridReader.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7178040" cy="3566160"/>
          </a:xfrm>
          <a:prstGeom prst="roundRect">
            <a:avLst>
              <a:gd name="adj" fmla="val 2564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5146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1005840" y="25146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188720" y="25146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2459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OrdersRepository.cs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96112" y="2788920"/>
            <a:ext cx="6665976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@"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;";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QueryMultipleAsync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order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ReadFirst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&gt;();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items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multi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ReadAsync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OrderItem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&gt;()).</a:t>
            </a:r>
            <a:r>
              <a:rPr lang="en-US" sz="13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0" y="2331720"/>
            <a:ext cx="3337560" cy="3566160"/>
          </a:xfrm>
          <a:prstGeom prst="roundRect">
            <a:avLst>
              <a:gd name="adj" fmla="val 3836"/>
            </a:avLst>
          </a:prstGeom>
          <a:solidFill>
            <a:srgbClr val="F3F5FC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9640" y="265176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7" name="Image 1" descr="C:\Users\Yurii\AppData\Local\Temp\claude\C--Users-Yurii-source-repos---Examples-ASP-NET-AspNet-ADO-Net-Examples\44c2ceaa-020f-4de7-b610-c3e45b5de6dc\scratchpad\dapper-pptx\assets\icons\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68" y="2761488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144000" y="2697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8549640" y="3246120"/>
            <a:ext cx="2880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round-trip до бази замість кількох окремих запитів</a:t>
            </a:r>
            <a:endParaRPr lang="en-US" sz="1200" dirty="0"/>
          </a:p>
          <a:p>
            <a:pPr marL="228600" indent="-228600">
              <a:lnSpc>
                <a:spcPct val="122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GridReader читається послідовно: Read&lt;T&gt;, ReadFirst&lt;T&gt;, ReadSingleOrDefault&lt;T&gt;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ЗАПИТИ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Параметри: анонімні об’єкти та списки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Анонімний об’єкт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19456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19456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19456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139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Parameters.cs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468880"/>
            <a:ext cx="104150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Users WHERE UserName = @UserName AND Password = @Password"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QuerySingle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username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значень у WHERE ... IN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10927080" cy="1508760"/>
          </a:xfrm>
          <a:prstGeom prst="roundRect">
            <a:avLst>
              <a:gd name="adj" fmla="val 6061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1605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188720" y="41605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41080" y="4105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Parameters.cs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434840"/>
            <a:ext cx="104150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ids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sql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Products WHERE ProductId IN @Ids"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ids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235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Властивості анонімного об’єкта автоматично стають параметрами @Name — без жодного SqlParameter вручну. Масив у @Ids Dapper сам розгортає у список значень.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ЗАПИТИ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DynamicParameters і вихідні параметри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178040" cy="34290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745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745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819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CustomerRepository.cs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48840"/>
            <a:ext cx="666597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DynamicParameters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("@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1002);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("@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dbType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DbType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direction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ParameterDirection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50);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"GetCustomerDetails"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commandType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CommandType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StoredProcedure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&gt;("@</a:t>
            </a:r>
            <a:r>
              <a:rPr lang="en-US" sz="13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337560" cy="3429000"/>
          </a:xfrm>
          <a:prstGeom prst="roundRect">
            <a:avLst>
              <a:gd name="adj" fmla="val 3836"/>
            </a:avLst>
          </a:prstGeom>
          <a:solidFill>
            <a:srgbClr val="141B41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01168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4" name="Image 0" descr="C:\Users\Yurii\AppData\Local\Temp\claude\C--Users-Yurii-source-repos---Examples-ASP-NET-AspNet-ADO-Net-Examples\44c2ceaa-020f-4de7-b610-c3e45b5de6dc\scratchpad\dapper-pptx\assets\icons\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121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1440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потрібен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60604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невідомі заздалегідь</a:t>
            </a:r>
            <a:endParaRPr lang="en-US" sz="12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Явний контроль над типом і напрямком (Input/Output)</a:t>
            </a:r>
            <a:endParaRPr lang="en-US" sz="12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Вихідні (OUTPUT) параметри збережених процедур</a:t>
            </a:r>
            <a:endParaRPr lang="en-US" sz="12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Табличні параметри (TVP) через AsTableValuedParameter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КОМАНДИ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UPDATE / DELETE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178040" cy="4206240"/>
          </a:xfrm>
          <a:prstGeom prst="roundRect">
            <a:avLst>
              <a:gd name="adj" fmla="val 2174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745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745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819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StudentsService.cs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48840"/>
            <a:ext cx="666597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9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INSERT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9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Product (CategoryID, Name) VALUES (@categoryId, @name)"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categoryId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"Dapper Plus"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9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Product SET Name = @name WHERE ProductID = @id"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7,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"Dapper"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i="1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9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 FROM Product WHERE CategoryID = @categoryId"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categoryId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9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F3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01168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4" name="Image 0" descr="C:\Users\Yurii\AppData\Local\Temp\claude\C--Users-Yurii-source-repos---Examples-ASP-NET-AspNet-ADO-Net-Examples\44c2ceaa-020f-4de7-b610-c3e45b5de6dc\scratchpad\dapper-pptx\assets\icons\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12140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549640" y="26060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/ ExecuteAsync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3200400"/>
            <a:ext cx="2880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Повертають int — кількість змінених рядків</a:t>
            </a:r>
            <a:endParaRPr lang="en-US" sz="12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метод для INSERT, UPDATE і DELETE</a:t>
            </a:r>
            <a:endParaRPr lang="en-US" sz="12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сотень чи тисяч рядків використовуйте BulkInsert / BulkUpdate / BulkDelete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КОМАНДИ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Збережені процедури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178040" cy="2743200"/>
          </a:xfrm>
          <a:prstGeom prst="roundRect">
            <a:avLst>
              <a:gd name="adj" fmla="val 3333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745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745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819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SalesRepository.cs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48840"/>
            <a:ext cx="666597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parameters 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1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1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BeginningDate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1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"2017-01-01"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1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EndingDate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1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"2017-12-31"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sales 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1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31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1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"GetSalesByYear"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parameters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1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commandType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1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1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CommandType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1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StoredProcedure</a:t>
            </a:r>
            <a:r>
              <a:rPr lang="en-US" sz="131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7178040" cy="128016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617720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80" i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CommandType.StoredProcedure замість "EXEC ..." у тексті SQL — краща безпека, чіткість коду та коректна обробка вихідних параметрів.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337560" cy="4206240"/>
          </a:xfrm>
          <a:prstGeom prst="roundRect">
            <a:avLst>
              <a:gd name="adj" fmla="val 3836"/>
            </a:avLst>
          </a:prstGeom>
          <a:solidFill>
            <a:srgbClr val="141B41"/>
          </a:solidFill>
          <a:ln/>
        </p:spPr>
      </p:sp>
      <p:sp>
        <p:nvSpPr>
          <p:cNvPr id="15" name="Shape 13"/>
          <p:cNvSpPr/>
          <p:nvPr/>
        </p:nvSpPr>
        <p:spPr>
          <a:xfrm>
            <a:off x="8549640" y="201168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6" name="Image 0" descr="C:\Users\Yurii\AppData\Local\Temp\claude\C--Users-Yurii-source-repos---Examples-ASP-NET-AspNet-ADO-Net-Examples\44c2ceaa-020f-4de7-b610-c3e45b5de6dc\scratchpad\dapper-pptx\assets\icons\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12140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440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саме так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260604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Процедура інкапсулює бізнес-логіку прямо в БД</a:t>
            </a:r>
            <a:endParaRPr lang="en-US" sz="1200" dirty="0"/>
          </a:p>
          <a:p>
            <a:pPr marL="228600" indent="-2286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дублювання складних запитів</a:t>
            </a:r>
            <a:endParaRPr lang="en-US" sz="1200" dirty="0"/>
          </a:p>
          <a:p>
            <a:pPr marL="228600" indent="-228600">
              <a:lnSpc>
                <a:spcPct val="128000"/>
              </a:lnSpc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Оптимізатор SQL Server кешує план виконання процедури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Multi-Mapping: JOIN чи кілька запитів?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2697480"/>
          </a:xfrm>
          <a:prstGeom prst="roundRect">
            <a:avLst>
              <a:gd name="adj" fmla="val 4746"/>
            </a:avLst>
          </a:prstGeom>
          <a:solidFill>
            <a:srgbClr val="F3F5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8" name="Image 0" descr="C:\Users\Yurii\AppData\Local\Temp\claude\C--Users-Yurii-source-repos---Examples-ASP-NET-AspNet-ADO-Net-Examples\44c2ceaa-020f-4de7-b610-c3e45b5de6dc\scratchpad\dapper-pptx\assets\icons\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409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JOIN-запит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651760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рядок відповіді одразу містить дані з кількох таблиць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round-trip до бази — швидше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більшості сценаріїв — правильний вибір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257800" cy="2697480"/>
          </a:xfrm>
          <a:prstGeom prst="roundRect">
            <a:avLst>
              <a:gd name="adj" fmla="val 4746"/>
            </a:avLst>
          </a:prstGeom>
          <a:solidFill>
            <a:srgbClr val="F3F5F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1F2A5E"/>
          </a:solidFill>
          <a:ln/>
        </p:spPr>
      </p:sp>
      <p:pic>
        <p:nvPicPr>
          <p:cNvPr id="13" name="Image 1" descr="C:\Users\Yurii\AppData\Local\Temp\claude\C--Users-Yurii-source-repos---Examples-ASP-NET-AspNet-ADO-Net-Examples\44c2ceaa-020f-4de7-b610-c3e45b5de6dc\scratchpad\dapper-pptx\assets\icons\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20409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окремих запитів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51760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Окремий запит на батьківські дані, окремий — на пов’язані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Більше звернень до бази на кожен запит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Виправдано, коли пов’язані дані не завжди потрібні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526280"/>
            <a:ext cx="10881360" cy="1280160"/>
          </a:xfrm>
          <a:prstGeom prst="roundRect">
            <a:avLst>
              <a:gd name="adj" fmla="val 10000"/>
            </a:avLst>
          </a:prstGeom>
          <a:solidFill>
            <a:srgbClr val="141B41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" y="4882896"/>
            <a:ext cx="566928" cy="566928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8" name="Image 2" descr="C:\Users\Yurii\AppData\Local\Temp\claude\C--Users-Yurii-source-repos---Examples-ASP-NET-AspNet-ADO-Net-Examples\44c2ceaa-020f-4de7-b610-c3e45b5de6dc\scratchpad\dapper-pptx\assets\icons\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183" y="501895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83080" y="47091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Dapper розрізняє об’єкти в одному рядку?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783080" y="507492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splitOn вказує стовпець, з якого починається наступний об’єкт: усе до нього мапиться в перший параметр функції, усе від нього — у другий (і так для кожного наступного об’єкта).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Один-до-одного: Product → Category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3502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SQL-запит (JOIN)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288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8288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18288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103120"/>
            <a:ext cx="4745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ProductName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CategoryName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33502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Multi-mapping у C#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8288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629400" y="18288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18288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103120"/>
            <a:ext cx="4745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9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QueryAsync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sql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product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category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splitOn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"CategoryID"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2638044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297680"/>
            <a:ext cx="2638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7852" y="4297680"/>
            <a:ext cx="2638044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7852" y="4297680"/>
            <a:ext cx="2638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ProductName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35624" y="4297680"/>
            <a:ext cx="2638044" cy="457200"/>
          </a:xfrm>
          <a:prstGeom prst="roundRect">
            <a:avLst>
              <a:gd name="adj" fmla="val 16000"/>
            </a:avLst>
          </a:prstGeom>
          <a:solidFill>
            <a:srgbClr val="00C48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35624" y="4297680"/>
            <a:ext cx="2638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83396" y="4297680"/>
            <a:ext cx="2638044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883396" y="4297680"/>
            <a:ext cx="2638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CategoryName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919472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3F5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49194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 до стовпця </a:t>
            </a:r>
            <a:r>
              <a:rPr lang="en-US" sz="1300" b="1" dirty="0">
                <a:solidFill>
                  <a:srgbClr val="049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перший параметр функції (</a:t>
            </a:r>
            <a:r>
              <a:rPr lang="en-US" sz="13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Усе від нього — у другий параметр (</a:t>
            </a:r>
            <a:r>
              <a:rPr lang="en-US" sz="13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Один-до-багатьох: Category → Products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7178040" cy="34290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2880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2880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2880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773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03120"/>
            <a:ext cx="666597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ProductID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ProductName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CategoryID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CategoryName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ICollection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337560" cy="3429000"/>
          </a:xfrm>
          <a:prstGeom prst="roundRect">
            <a:avLst>
              <a:gd name="adj" fmla="val 3836"/>
            </a:avLst>
          </a:prstGeom>
          <a:solidFill>
            <a:srgbClr val="141B41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192024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4" name="Image 0" descr="C:\Users\Yurii\AppData\Local\Temp\claude\C--Users-Yurii-source-repos---Examples-ASP-NET-AspNet-ADO-Net-Examples\44c2ceaa-020f-4de7-b610-c3e45b5de6dc\scratchpad\dapper-pptx\assets\icons\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02996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14400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практиці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51460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має один Category — саме це заповнює запит з попереднього слайда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Формально категорія має багато Products, але Dapper НЕ наповнює цю колекцію автоматично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Потрібна саме колекція Products? Групуйте результат — принцип такий самий, як у many-to-many далі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640080" y="52578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F2A5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61120" y="525780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00C48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5257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00400" y="5532120"/>
            <a:ext cx="5760720" cy="0"/>
          </a:xfrm>
          <a:prstGeom prst="line">
            <a:avLst/>
          </a:prstGeom>
          <a:noFill/>
          <a:ln w="19050">
            <a:solidFill>
              <a:srgbClr val="C7CCE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291840" y="5239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5239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Багато-до-багатьох: Post ↔ Tag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16459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0C4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PostTags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16459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77824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1325880" cy="0"/>
          </a:xfrm>
          <a:prstGeom prst="line">
            <a:avLst/>
          </a:prstGeom>
          <a:noFill/>
          <a:ln w="19050">
            <a:solidFill>
              <a:srgbClr val="C7C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2148840"/>
            <a:ext cx="1325880" cy="0"/>
          </a:xfrm>
          <a:prstGeom prst="line">
            <a:avLst/>
          </a:prstGeom>
          <a:noFill/>
          <a:ln w="19050">
            <a:solidFill>
              <a:srgbClr val="C7CC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0" y="18379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9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18379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9A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10896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" y="310896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310896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71800" y="3054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Models.cs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3383280"/>
            <a:ext cx="474573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TagName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7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7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263640" y="292608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10896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6629400" y="310896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6812280" y="310896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95360" y="30540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3383280"/>
            <a:ext cx="474573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TagName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PostTags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дублювання рядків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1F2A5E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556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691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повертає окремий рядок на кожен тег — заголовок посту дублюється стільки разів, скільки в нього тегів.</a:t>
            </a:r>
            <a:endParaRPr 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16093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53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2022 CTP вийшов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53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53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2022 CTP вийшов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53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53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B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 2022 CTP вийшов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C537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announcement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31256" y="3977640"/>
            <a:ext cx="329184" cy="365760"/>
          </a:xfrm>
          <a:prstGeom prst="downArrow">
            <a:avLst/>
          </a:prstGeom>
          <a:solidFill>
            <a:srgbClr val="C7CCE4"/>
          </a:solidFill>
          <a:ln/>
        </p:spPr>
      </p:sp>
      <p:sp>
        <p:nvSpPr>
          <p:cNvPr id="11" name="Shape 7"/>
          <p:cNvSpPr/>
          <p:nvPr/>
        </p:nvSpPr>
        <p:spPr>
          <a:xfrm>
            <a:off x="2423160" y="4480560"/>
            <a:ext cx="7315200" cy="1508760"/>
          </a:xfrm>
          <a:prstGeom prst="roundRect">
            <a:avLst>
              <a:gd name="adj" fmla="val 8485"/>
            </a:avLst>
          </a:prstGeom>
          <a:solidFill>
            <a:srgbClr val="F3F5FC"/>
          </a:solidFill>
          <a:ln/>
        </p:spPr>
      </p:sp>
      <p:sp>
        <p:nvSpPr>
          <p:cNvPr id="12" name="Shape 8"/>
          <p:cNvSpPr/>
          <p:nvPr/>
        </p:nvSpPr>
        <p:spPr>
          <a:xfrm>
            <a:off x="2697480" y="4736592"/>
            <a:ext cx="502920" cy="5029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3" name="Image 1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8181" y="4857293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4736592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#1 — SQL Server 2022 CTP вийшов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3383280" y="5303520"/>
            <a:ext cx="621792" cy="384048"/>
          </a:xfrm>
          <a:prstGeom prst="roundRect">
            <a:avLst>
              <a:gd name="adj" fmla="val 50000"/>
            </a:avLst>
          </a:prstGeom>
          <a:solidFill>
            <a:srgbClr val="00C48C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3383280" y="530352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142232" y="530352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00C48C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4142232" y="530352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04104" y="5303520"/>
            <a:ext cx="1527048" cy="384048"/>
          </a:xfrm>
          <a:prstGeom prst="roundRect">
            <a:avLst>
              <a:gd name="adj" fmla="val 50000"/>
            </a:avLst>
          </a:prstGeom>
          <a:solidFill>
            <a:srgbClr val="00C48C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5404104" y="530352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announcement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Групування результату (GroupBy)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178040" cy="4023360"/>
          </a:xfrm>
          <a:prstGeom prst="roundRect">
            <a:avLst>
              <a:gd name="adj" fmla="val 2273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8745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745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819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148840"/>
            <a:ext cx="66659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QueryAsync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sql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tag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splitOn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"TagId"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()).</a:t>
            </a:r>
            <a:r>
              <a:rPr lang="en-US" sz="10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ToList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337560" cy="4023360"/>
          </a:xfrm>
          <a:prstGeom prst="roundRect">
            <a:avLst>
              <a:gd name="adj" fmla="val 3836"/>
            </a:avLst>
          </a:prstGeom>
          <a:solidFill>
            <a:srgbClr val="141B41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196596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4" name="Image 0" descr="C:\Users\Yurii\AppData\Local\Temp\claude\C--Users-Yurii-source-repos---Examples-ASP-NET-AspNet-ADO-Net-Examples\44c2ceaa-020f-4de7-b610-c3e45b5de6dc\scratchpad\dapper-pptx\assets\icons\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07568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Крок за кроком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56032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QueryAsync додає тег у Tags для КОЖНОГО дубльованого рядка Post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GroupBy(p =&gt; p.PostId) об’єднує дублікати за ключем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g.First() бере вже частково заповнений Post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180" dirty="0">
                <a:solidFill>
                  <a:srgbClr val="DC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Select(...).ToList() збирає всі теги групи в один список</a:t>
            </a:r>
            <a:endParaRPr lang="en-US" sz="11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зв’язків одночасно: Post + Author + Tag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2103120"/>
          </a:xfrm>
          <a:prstGeom prst="roundRect">
            <a:avLst>
              <a:gd name="adj" fmla="val 4348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73736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73736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0" y="1682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011680"/>
            <a:ext cx="103692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FirstName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LastName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TagName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AuthorId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PostTags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PostId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</a:t>
            </a: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pt</a:t>
            </a:r>
            <a:r>
              <a:rPr lang="en-US" sz="130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881360" cy="2606040"/>
          </a:xfrm>
          <a:prstGeom prst="roundRect">
            <a:avLst>
              <a:gd name="adj" fmla="val 3509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02336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402336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402336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39684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297680"/>
            <a:ext cx="103692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posts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9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QueryAsync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sql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author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tag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author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9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9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9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9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splitOn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9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9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"FirstName, TagId"</a:t>
            </a:r>
            <a:r>
              <a:rPr lang="en-US" sz="109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178040" cy="4343400"/>
          </a:xfrm>
          <a:prstGeom prst="roundRect">
            <a:avLst>
              <a:gd name="adj" fmla="val 2105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4592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64592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64592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5910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TransferService.cs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920240"/>
            <a:ext cx="6665976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SqlConnection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connectionString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 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connection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BeginTransaction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sql1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param1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sql2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param2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463040"/>
            <a:ext cx="3337560" cy="2080260"/>
          </a:xfrm>
          <a:prstGeom prst="roundRect">
            <a:avLst>
              <a:gd name="adj" fmla="val 6154"/>
            </a:avLst>
          </a:prstGeom>
          <a:solidFill>
            <a:srgbClr val="F3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485632" y="1691640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4" name="Image 0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801368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125712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222199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Застосувати всі зміни транзакції одразу, як єдине ціле.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0" y="3726180"/>
            <a:ext cx="3337560" cy="2080260"/>
          </a:xfrm>
          <a:prstGeom prst="roundRect">
            <a:avLst>
              <a:gd name="adj" fmla="val 6154"/>
            </a:avLst>
          </a:prstGeom>
          <a:solidFill>
            <a:srgbClr val="F3F5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485632" y="3954780"/>
            <a:ext cx="457200" cy="457200"/>
          </a:xfrm>
          <a:prstGeom prst="ellipse">
            <a:avLst/>
          </a:prstGeom>
          <a:solidFill>
            <a:srgbClr val="1F2A5E"/>
          </a:solidFill>
          <a:ln/>
        </p:spPr>
      </p:sp>
      <p:pic>
        <p:nvPicPr>
          <p:cNvPr id="19" name="Image 1" descr="C:\Users\Yurii\AppData\Local\Temp\claude\C--Users-Yurii-source-repos---Examples-ASP-NET-AspNet-ADO-Net-Examples\44c2ceaa-020f-4de7-b610-c3e45b5de6dc\scratchpad\dapper-pptx\assets\icons\un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406450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25712" y="40005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503920" y="4485132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Скасувати всі зміни, якщо хоч один крок завершився помилкою.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5943600"/>
            <a:ext cx="7178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i="1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не гарантує автоматичний rollback — помилки потрібно обробляти явно через try/catch.</a:t>
            </a:r>
            <a:endParaRPr lang="en-US" sz="11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РОЗШИРЕНІ МОЖЛИВОСТІ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Масові операції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виконує окрему команду на кожен рядок — для сотень чи тисяч записів це повільно. Розширення Dapper Plus додає bulk-методи.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F3F5FC"/>
          </a:solidFill>
          <a:ln/>
        </p:spPr>
      </p:sp>
      <p:sp>
        <p:nvSpPr>
          <p:cNvPr id="8" name="Shape 6"/>
          <p:cNvSpPr/>
          <p:nvPr/>
        </p:nvSpPr>
        <p:spPr>
          <a:xfrm>
            <a:off x="1668780" y="2587752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9" name="Image 0" descr="C:\Users\Yurii\AppData\Local\Temp\claude\C--Users-Yurii-source-repos---Examples-ASP-NET-AspNet-ADO-Net-Examples\44c2ceaa-020f-4de7-b610-c3e45b5de6dc\scratchpad\dapper-pptx\assets\icons\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54" y="2719426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BulkInsert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84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Додає тисячі рядків одним пакетом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3429000" y="233172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F3F5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457700" y="2587752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4" name="Image 1" descr="C:\Users\Yurii\AppData\Local\Temp\claude\C--Users-Yurii-source-repos---Examples-ASP-NET-AspNet-ADO-Net-Examples\44c2ceaa-020f-4de7-b610-c3e45b5de6dc\scratchpad\dapper-pptx\assets\icons\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374" y="271942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6616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BulkUpdate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584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Оновлює безліч записів за раз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217920" y="233172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F3F5FC"/>
          </a:solidFill>
          <a:ln/>
        </p:spPr>
      </p:sp>
      <p:sp>
        <p:nvSpPr>
          <p:cNvPr id="18" name="Shape 14"/>
          <p:cNvSpPr/>
          <p:nvPr/>
        </p:nvSpPr>
        <p:spPr>
          <a:xfrm>
            <a:off x="7246620" y="2587752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9" name="Image 2" descr="C:\Users\Yurii\AppData\Local\Temp\claude\C--Users-Yurii-source-repos---Examples-ASP-NET-AspNet-ADO-Net-Examples\44c2ceaa-020f-4de7-b610-c3e45b5de6dc\scratchpad\dapper-pptx\assets\icons\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294" y="2719426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BulkDelete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0" y="3584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Масове видалення без циклів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9006840" y="2331720"/>
            <a:ext cx="2606040" cy="1737360"/>
          </a:xfrm>
          <a:prstGeom prst="roundRect">
            <a:avLst>
              <a:gd name="adj" fmla="val 7368"/>
            </a:avLst>
          </a:prstGeom>
          <a:solidFill>
            <a:srgbClr val="F3F5F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35540" y="2587752"/>
            <a:ext cx="548640" cy="54864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4" name="Image 3" descr="C:\Users\Yurii\AppData\Local\Temp\claude\C--Users-Yurii-source-repos---Examples-ASP-NET-AspNet-ADO-Net-Examples\44c2ceaa-020f-4de7-b610-c3e45b5de6dc\scratchpad\dapper-pptx\assets\icons\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214" y="271942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3246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BulkMerge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189720" y="3584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8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або UPDATE залежно від наявності запису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640080" y="4343400"/>
            <a:ext cx="10927080" cy="1691640"/>
          </a:xfrm>
          <a:prstGeom prst="roundRect">
            <a:avLst>
              <a:gd name="adj" fmla="val 5405"/>
            </a:avLst>
          </a:prstGeom>
          <a:solidFill>
            <a:srgbClr val="1C2333"/>
          </a:solidFill>
          <a:ln/>
          <a:effectLst>
            <a:outerShdw blurRad="127000" dist="38100" dir="5400000" algn="bl" rotWithShape="0">
              <a:srgbClr val="0B0F27">
                <a:alpha val="3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22960" y="4526280"/>
            <a:ext cx="82296" cy="8229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9" name="Shape 23"/>
          <p:cNvSpPr/>
          <p:nvPr/>
        </p:nvSpPr>
        <p:spPr>
          <a:xfrm>
            <a:off x="1005840" y="4526280"/>
            <a:ext cx="82296" cy="8229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0" name="Shape 24"/>
          <p:cNvSpPr/>
          <p:nvPr/>
        </p:nvSpPr>
        <p:spPr>
          <a:xfrm>
            <a:off x="1188720" y="4526280"/>
            <a:ext cx="82296" cy="8229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8641080" y="4471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91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BulkOperations.cs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896112" y="4800600"/>
            <a:ext cx="104150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2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BulkInsert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2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BulkUpdate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2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BulkDelete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2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BulkMerge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20" dirty="0">
                <a:solidFill>
                  <a:srgbClr val="E7EA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</a:t>
            </a:r>
            <a:r>
              <a:rPr lang="en-US" sz="1320" dirty="0">
                <a:solidFill>
                  <a:srgbClr val="A6AE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ВИСНОВКИ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обирати Dapper?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49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9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520440"/>
          </a:xfrm>
          <a:prstGeom prst="roundRect">
            <a:avLst>
              <a:gd name="adj" fmla="val 3636"/>
            </a:avLst>
          </a:prstGeom>
          <a:solidFill>
            <a:srgbClr val="F3F5F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0240"/>
            <a:ext cx="502920" cy="50292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8" name="Image 0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409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Обирайте Dapper, якщо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65176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Критична продуктивність і потрібен повний контроль над SQL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 звіти, аналітичні запити, збережені процедури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впевнено читає та пише SQL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45920"/>
            <a:ext cx="5257800" cy="3520440"/>
          </a:xfrm>
          <a:prstGeom prst="roundRect">
            <a:avLst>
              <a:gd name="adj" fmla="val 3636"/>
            </a:avLst>
          </a:prstGeom>
          <a:solidFill>
            <a:srgbClr val="F3F5FC"/>
          </a:solidFill>
          <a:ln/>
        </p:spPr>
      </p:sp>
      <p:sp>
        <p:nvSpPr>
          <p:cNvPr id="12" name="Shape 9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1F2A5E"/>
          </a:solidFill>
          <a:ln/>
        </p:spPr>
      </p:sp>
      <p:pic>
        <p:nvPicPr>
          <p:cNvPr id="13" name="Image 1" descr="C:\Users\Yurii\AppData\Local\Temp\claude\C--Users-Yurii-source-repos---Examples-ASP-NET-AspNet-ADO-Net-Examples\44c2ceaa-020f-4de7-b610-c3e45b5de6dc\scratchpad\dapper-pptx\assets\icons\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20409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Розгляньте EF Core, якщо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51760"/>
            <a:ext cx="4617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даних часто змінюється — потрібні міграції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хоче писати запити на LINQ, а не SQL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300"/>
              </a:spcAft>
              <a:buSzPct val="100000"/>
              <a:buChar char="●"/>
            </a:pPr>
            <a:r>
              <a:rPr lang="en-US" sz="1300" dirty="0">
                <a:solidFill>
                  <a:srgbClr val="4C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Важлива портативність між різними СУБД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4737"/>
            </a:avLst>
          </a:prstGeom>
          <a:solidFill>
            <a:srgbClr val="141B4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1005840" y="534924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реальних проєктах їх нерідко поєднують: EF Core — для CRUD-операцій, Dapper — для звітів і важких запитів.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ВИСНОВКИ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20240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1737360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 = ADO.NET + зручний object mapping, без магії та зайвих витрат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10512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0" name="Image 1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9202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85432" y="1737360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Query&lt;T&gt; / QueryAsync&lt;T&gt; — основний інструмент читання даних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3" name="Image 2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71800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788920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— завжди через об’єкт, ніколи конкатенацією рядків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63640" y="2862072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6" name="Image 3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97180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85432" y="2788920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— для INSERT/UPDATE/DELETE, bulk-методи — для великих обсягів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9" name="Image 4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02336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261872" y="3840480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Транзакції — BeginTransaction і явний Commit/Rollback у try/catch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263640" y="3913632"/>
            <a:ext cx="457200" cy="457200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22" name="Image 5" descr="C:\Users\Yurii\AppData\Local\Temp\claude\C--Users-Yurii-source-repos---Examples-ASP-NET-AspNet-ADO-Net-Examples\44c2ceaa-020f-4de7-b610-c3e45b5de6dc\scratchpad\dapper-pptx\assets\icons\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4023360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885432" y="3840480"/>
            <a:ext cx="4636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Обирайте інструмент під задачу, а не за модою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Дякую за увагу!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Запитання про Dapper?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512064" cy="512064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7" name="Image 0" descr="C:\Users\Yurii\AppData\Local\Temp\claude\C--Users-Yurii-source-repos---Examples-ASP-NET-AspNet-ADO-Net-Examples\44c2ceaa-020f-4de7-b610-c3e45b5de6dc\scratchpad\dapper-pptx\assets\icons\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3369015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53312" y="3227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learndapper.com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53312" y="3538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офіційна документація та приклади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512064" cy="512064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1" name="Image 1" descr="C:\Users\Yurii\AppData\Local\Temp\claude\C--Users-Yurii-source-repos---Examples-ASP-NET-AspNet-ADO-Net-Examples\44c2ceaa-020f-4de7-b610-c3e45b5de6dc\scratchpad\dapper-pptx\assets\icons\b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414625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53312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add package Dapper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53312" y="4315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Встановлення пакета через NuGet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512064" cy="512064"/>
          </a:xfrm>
          <a:prstGeom prst="ellipse">
            <a:avLst/>
          </a:prstGeom>
          <a:solidFill>
            <a:srgbClr val="00C48C"/>
          </a:solidFill>
          <a:ln/>
        </p:spPr>
      </p:sp>
      <p:pic>
        <p:nvPicPr>
          <p:cNvPr id="15" name="Image 2" descr="C:\Users\Yurii\AppData\Local\Temp\claude\C--Users-Yurii-source-repos---Examples-ASP-NET-AspNet-ADO-Net-Examples\44c2ceaa-020f-4de7-b610-c3e45b5de6dc\scratchpad\dapper-pptx\assets\icons\exter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975" y="4923495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53312" y="47823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github.com/DapperLib/Dapper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53312" y="5093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Вихідний код і issue-трекер проєкту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510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DAPPER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10362895" y="6510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9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2811</Words>
  <Application>Microsoft Office PowerPoint</Application>
  <PresentationFormat>Широкоэкранный</PresentationFormat>
  <Paragraphs>546</Paragraphs>
  <Slides>27</Slides>
  <Notes>27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Yuriy Tomka</cp:lastModifiedBy>
  <cp:revision>2</cp:revision>
  <dcterms:created xsi:type="dcterms:W3CDTF">2026-09-14T21:14:36Z</dcterms:created>
  <dcterms:modified xsi:type="dcterms:W3CDTF">2026-09-14T21:33:19Z</dcterms:modified>
</cp:coreProperties>
</file>